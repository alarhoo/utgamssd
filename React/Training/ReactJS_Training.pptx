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53"/>
  </p:notesMasterIdLst>
  <p:sldIdLst>
    <p:sldId id="257" r:id="rId3"/>
    <p:sldId id="259" r:id="rId4"/>
    <p:sldId id="272" r:id="rId5"/>
    <p:sldId id="280" r:id="rId6"/>
    <p:sldId id="282" r:id="rId7"/>
    <p:sldId id="284" r:id="rId8"/>
    <p:sldId id="283" r:id="rId9"/>
    <p:sldId id="286" r:id="rId10"/>
    <p:sldId id="352" r:id="rId11"/>
    <p:sldId id="353" r:id="rId12"/>
    <p:sldId id="354" r:id="rId13"/>
    <p:sldId id="355" r:id="rId14"/>
    <p:sldId id="358" r:id="rId15"/>
    <p:sldId id="356" r:id="rId16"/>
    <p:sldId id="357" r:id="rId17"/>
    <p:sldId id="360" r:id="rId18"/>
    <p:sldId id="359" r:id="rId19"/>
    <p:sldId id="369" r:id="rId20"/>
    <p:sldId id="368" r:id="rId21"/>
    <p:sldId id="365" r:id="rId22"/>
    <p:sldId id="366" r:id="rId23"/>
    <p:sldId id="370" r:id="rId24"/>
    <p:sldId id="367" r:id="rId25"/>
    <p:sldId id="371" r:id="rId26"/>
    <p:sldId id="372" r:id="rId27"/>
    <p:sldId id="374" r:id="rId28"/>
    <p:sldId id="373" r:id="rId29"/>
    <p:sldId id="375" r:id="rId30"/>
    <p:sldId id="377" r:id="rId31"/>
    <p:sldId id="378" r:id="rId32"/>
    <p:sldId id="380" r:id="rId33"/>
    <p:sldId id="381" r:id="rId34"/>
    <p:sldId id="376" r:id="rId35"/>
    <p:sldId id="384" r:id="rId36"/>
    <p:sldId id="382" r:id="rId37"/>
    <p:sldId id="385" r:id="rId38"/>
    <p:sldId id="383" r:id="rId39"/>
    <p:sldId id="386" r:id="rId40"/>
    <p:sldId id="387" r:id="rId41"/>
    <p:sldId id="388" r:id="rId42"/>
    <p:sldId id="390" r:id="rId43"/>
    <p:sldId id="389" r:id="rId44"/>
    <p:sldId id="393" r:id="rId45"/>
    <p:sldId id="391" r:id="rId46"/>
    <p:sldId id="392" r:id="rId47"/>
    <p:sldId id="395" r:id="rId48"/>
    <p:sldId id="397" r:id="rId49"/>
    <p:sldId id="396" r:id="rId50"/>
    <p:sldId id="398" r:id="rId51"/>
    <p:sldId id="399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junatha K" initials="MK" lastIdx="1" clrIdx="0">
    <p:extLst>
      <p:ext uri="{19B8F6BF-5375-455C-9EA6-DF929625EA0E}">
        <p15:presenceInfo xmlns:p15="http://schemas.microsoft.com/office/powerpoint/2012/main" userId="S-1-5-21-328049011-4231347196-3535343139-121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AC41"/>
    <a:srgbClr val="92D050"/>
    <a:srgbClr val="D43E01"/>
    <a:srgbClr val="3D4070"/>
    <a:srgbClr val="FF8504"/>
    <a:srgbClr val="595959"/>
    <a:srgbClr val="404040"/>
    <a:srgbClr val="7CAA41"/>
    <a:srgbClr val="A0BD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5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21T01:45:47.848" idx="1">
    <p:pos x="7368" y="848"/>
    <p:text>npx create-react-app my-app
cd my-app
npm start</p:text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07993-28ED-4C83-B4DE-A569536C6AD4}" type="datetimeFigureOut">
              <a:rPr lang="en-US" smtClean="0"/>
              <a:t>7/8/2021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257C2-BFF7-460B-813D-77654C52F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7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4257C2-BFF7-460B-813D-77654C52FC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05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2FAC84-A72F-4A54-9334-DF11B72506D0}"/>
              </a:ext>
            </a:extLst>
          </p:cNvPr>
          <p:cNvSpPr/>
          <p:nvPr userDrawn="1"/>
        </p:nvSpPr>
        <p:spPr>
          <a:xfrm>
            <a:off x="0" y="0"/>
            <a:ext cx="12192000" cy="455474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B0932D-A3A6-494A-8DDF-995ABF1AF3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10375-20A6-4820-8E87-22C692C39E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7EFE78-4AEA-4732-98A7-CF5072473B80}"/>
              </a:ext>
            </a:extLst>
          </p:cNvPr>
          <p:cNvSpPr/>
          <p:nvPr userDrawn="1"/>
        </p:nvSpPr>
        <p:spPr>
          <a:xfrm>
            <a:off x="0" y="4491487"/>
            <a:ext cx="12192000" cy="155275"/>
          </a:xfrm>
          <a:prstGeom prst="rect">
            <a:avLst/>
          </a:prstGeom>
          <a:solidFill>
            <a:srgbClr val="7BAC41"/>
          </a:solidFill>
          <a:ln>
            <a:solidFill>
              <a:srgbClr val="7BAC41"/>
            </a:solidFill>
          </a:ln>
          <a:effectLst>
            <a:glow rad="1143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06EA824-9CA7-4967-ACD8-280257109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100" y="6356350"/>
            <a:ext cx="798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confidential. Not to be distributed or reproduced without permission from Utegration.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6339830-3C78-4027-92D9-32B7F4C0E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37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A0465-FD76-4447-92AB-0D1488BF88EB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F1AFA98B-4AE1-4257-9EEC-867C101ED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946" y="4935190"/>
            <a:ext cx="5786489" cy="117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3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B7F67B4-436C-428E-8F0B-466A2ABBAE0B}"/>
              </a:ext>
            </a:extLst>
          </p:cNvPr>
          <p:cNvSpPr txBox="1">
            <a:spLocks/>
          </p:cNvSpPr>
          <p:nvPr userDrawn="1"/>
        </p:nvSpPr>
        <p:spPr>
          <a:xfrm>
            <a:off x="794164" y="301255"/>
            <a:ext cx="9264445" cy="528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Agenda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19BF27-51F4-4F4B-8F29-2B6C07A202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342" y="134711"/>
            <a:ext cx="595317" cy="695330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6EA824-9CA7-4967-ACD8-280257109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100" y="6356350"/>
            <a:ext cx="798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confidential. Not to be distributed or reproduced without permission from Utegration.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6339830-3C78-4027-92D9-32B7F4C0E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37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A0465-FD76-4447-92AB-0D1488B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3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7F322-8031-4E70-80B7-E0C3D634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62FF7-F46E-4474-BB47-A595E8AB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19BF27-51F4-4F4B-8F29-2B6C07A202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342" y="134711"/>
            <a:ext cx="595317" cy="695330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774700" y="227451"/>
            <a:ext cx="5867400" cy="5352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rgbClr val="3D407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D4070"/>
                </a:solidFill>
              </a:defRPr>
            </a:lvl1pPr>
            <a:lvl2pPr>
              <a:defRPr>
                <a:solidFill>
                  <a:srgbClr val="3D4070"/>
                </a:solidFill>
              </a:defRPr>
            </a:lvl2pPr>
            <a:lvl3pPr>
              <a:defRPr>
                <a:solidFill>
                  <a:srgbClr val="3D4070"/>
                </a:solidFill>
              </a:defRPr>
            </a:lvl3pPr>
            <a:lvl4pPr>
              <a:defRPr>
                <a:solidFill>
                  <a:srgbClr val="3D4070"/>
                </a:solidFill>
              </a:defRPr>
            </a:lvl4pPr>
            <a:lvl5pPr>
              <a:defRPr>
                <a:solidFill>
                  <a:srgbClr val="3D407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3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EA824-9CA7-4967-ACD8-280257109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100" y="6356350"/>
            <a:ext cx="798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confidential. Not to be distributed or reproduced without permission from Utegration.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39830-3C78-4027-92D9-32B7F4C0E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37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A0465-FD76-4447-92AB-0D1488BF88E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9FA7C0-066B-4958-85F0-BD354869E664}"/>
              </a:ext>
            </a:extLst>
          </p:cNvPr>
          <p:cNvCxnSpPr/>
          <p:nvPr userDrawn="1"/>
        </p:nvCxnSpPr>
        <p:spPr>
          <a:xfrm>
            <a:off x="206478" y="990117"/>
            <a:ext cx="6740013" cy="0"/>
          </a:xfrm>
          <a:prstGeom prst="line">
            <a:avLst/>
          </a:prstGeom>
          <a:ln w="19050">
            <a:solidFill>
              <a:srgbClr val="7BAC41"/>
            </a:solidFill>
          </a:ln>
          <a:effectLst>
            <a:glow rad="762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D19BF27-51F4-4F4B-8F29-2B6C07A202A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342" y="134711"/>
            <a:ext cx="595317" cy="69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54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211605" y="6444476"/>
            <a:ext cx="7610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white">
                    <a:lumMod val="65000"/>
                  </a:prstClr>
                </a:solidFill>
              </a:rPr>
              <a:t>Proprietary and Confidential. Not to be distributed or reproduced without permission from Utegration.</a:t>
            </a:r>
            <a:endParaRPr lang="zh-CN" altLang="en-US" sz="1200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283700" y="6444476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E3A0465-FD76-4447-92AB-0D1488BF88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5252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hyperlink" Target="https://nodejs.org/en/download/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cebook/react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s://developer.mozilla.org/en-US/docs/Web/HTTP/Status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mjs.com/package/axios" TargetMode="Externa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manja1227.github.io/react-blog/#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2FAC84-A72F-4A54-9334-DF11B72506D0}"/>
              </a:ext>
            </a:extLst>
          </p:cNvPr>
          <p:cNvSpPr/>
          <p:nvPr/>
        </p:nvSpPr>
        <p:spPr>
          <a:xfrm>
            <a:off x="0" y="-56270"/>
            <a:ext cx="12192000" cy="455474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7EFE78-4AEA-4732-98A7-CF5072473B80}"/>
              </a:ext>
            </a:extLst>
          </p:cNvPr>
          <p:cNvSpPr/>
          <p:nvPr/>
        </p:nvSpPr>
        <p:spPr>
          <a:xfrm>
            <a:off x="0" y="4491487"/>
            <a:ext cx="12192000" cy="155275"/>
          </a:xfrm>
          <a:prstGeom prst="rect">
            <a:avLst/>
          </a:prstGeom>
          <a:solidFill>
            <a:srgbClr val="7CAA4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ReactJS Training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18270"/>
          </a:xfrm>
        </p:spPr>
        <p:txBody>
          <a:bodyPr/>
          <a:lstStyle/>
          <a:p>
            <a:r>
              <a:rPr lang="en-US" dirty="0"/>
              <a:t>Manjunatha K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08745B0-79DB-4D4C-832F-A60E9014A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7546" y="154753"/>
            <a:ext cx="3376907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64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Introduction to Web Development</a:t>
            </a:r>
          </a:p>
          <a:p>
            <a:r>
              <a:rPr lang="en-US" dirty="0"/>
              <a:t>Introduction to ReactJS</a:t>
            </a:r>
          </a:p>
          <a:p>
            <a:r>
              <a:rPr lang="en-US" dirty="0"/>
              <a:t>Components, Props &amp; States</a:t>
            </a:r>
          </a:p>
          <a:p>
            <a:r>
              <a:rPr lang="en-US" dirty="0"/>
              <a:t>Event Handling</a:t>
            </a:r>
          </a:p>
          <a:p>
            <a:r>
              <a:rPr lang="en-US" dirty="0"/>
              <a:t>React Hooks </a:t>
            </a:r>
          </a:p>
          <a:p>
            <a:r>
              <a:rPr lang="en-US" dirty="0"/>
              <a:t>Higher Order Components 	</a:t>
            </a:r>
          </a:p>
          <a:p>
            <a:r>
              <a:rPr lang="en-US" dirty="0"/>
              <a:t>React and HTTP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Handling Forms in React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013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22673" y="1953354"/>
            <a:ext cx="5079872" cy="861430"/>
            <a:chOff x="822673" y="1953354"/>
            <a:chExt cx="5079872" cy="861430"/>
          </a:xfrm>
        </p:grpSpPr>
        <p:sp>
          <p:nvSpPr>
            <p:cNvPr id="7" name="Oval 6"/>
            <p:cNvSpPr/>
            <p:nvPr/>
          </p:nvSpPr>
          <p:spPr>
            <a:xfrm>
              <a:off x="822673" y="1953354"/>
              <a:ext cx="861430" cy="861430"/>
            </a:xfrm>
            <a:prstGeom prst="ellipse">
              <a:avLst/>
            </a:prstGeom>
            <a:solidFill>
              <a:srgbClr val="595959"/>
            </a:solidFill>
            <a:ln>
              <a:solidFill>
                <a:srgbClr val="3D40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prstClr val="white"/>
                  </a:solidFill>
                  <a:cs typeface="Lato Black" panose="020F0A02020204030203" pitchFamily="34" charset="0"/>
                </a:rPr>
                <a:t>1</a:t>
              </a:r>
              <a:endParaRPr lang="ru-RU" sz="2400" dirty="0">
                <a:solidFill>
                  <a:prstClr val="white"/>
                </a:solidFill>
                <a:cs typeface="Lato Black" panose="020F0A02020204030203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36945" y="219940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Lato Black" panose="020F0502020204030203" pitchFamily="34" charset="0"/>
                  <a:cs typeface="Lato Black" panose="020F0502020204030203" pitchFamily="34" charset="0"/>
                </a:rPr>
                <a:t>HTML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22673" y="3520103"/>
            <a:ext cx="5079872" cy="861430"/>
            <a:chOff x="822673" y="3520103"/>
            <a:chExt cx="5079872" cy="861430"/>
          </a:xfrm>
        </p:grpSpPr>
        <p:sp>
          <p:nvSpPr>
            <p:cNvPr id="11" name="Oval 10"/>
            <p:cNvSpPr/>
            <p:nvPr/>
          </p:nvSpPr>
          <p:spPr>
            <a:xfrm>
              <a:off x="822673" y="3520103"/>
              <a:ext cx="861430" cy="861430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prstClr val="white"/>
                  </a:solidFill>
                  <a:cs typeface="Lato Black" panose="020F0A02020204030203" pitchFamily="34" charset="0"/>
                </a:rPr>
                <a:t>2</a:t>
              </a:r>
              <a:endParaRPr lang="ru-RU" sz="2400">
                <a:solidFill>
                  <a:prstClr val="white"/>
                </a:solidFill>
                <a:cs typeface="Lato Black" panose="020F0A02020204030203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36945" y="37661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b="1" dirty="0">
                  <a:solidFill>
                    <a:prstClr val="black">
                      <a:lumMod val="75000"/>
                      <a:lumOff val="25000"/>
                    </a:prstClr>
                  </a:solidFill>
                  <a:cs typeface="Lato Black" panose="020F0A02020204030203" pitchFamily="34" charset="0"/>
                </a:rPr>
                <a:t>JavaScript</a:t>
              </a:r>
              <a:endParaRPr lang="en-US" b="1" dirty="0">
                <a:solidFill>
                  <a:prstClr val="black">
                    <a:lumMod val="75000"/>
                    <a:lumOff val="25000"/>
                  </a:prstClr>
                </a:solidFill>
                <a:cs typeface="Lato Black" panose="020F0A02020204030203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22673" y="5086852"/>
            <a:ext cx="5079872" cy="861430"/>
            <a:chOff x="822673" y="5086852"/>
            <a:chExt cx="5079872" cy="861430"/>
          </a:xfrm>
        </p:grpSpPr>
        <p:sp>
          <p:nvSpPr>
            <p:cNvPr id="15" name="Oval 14"/>
            <p:cNvSpPr/>
            <p:nvPr/>
          </p:nvSpPr>
          <p:spPr>
            <a:xfrm>
              <a:off x="822673" y="5086852"/>
              <a:ext cx="861430" cy="86143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prstClr val="white"/>
                  </a:solidFill>
                  <a:cs typeface="Lato Black" panose="020F0A02020204030203" pitchFamily="34" charset="0"/>
                </a:rPr>
                <a:t>3</a:t>
              </a:r>
              <a:endParaRPr lang="ru-RU" sz="2400">
                <a:solidFill>
                  <a:prstClr val="white"/>
                </a:solidFill>
                <a:cs typeface="Lato Black" panose="020F0A02020204030203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36945" y="5332901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b="1" dirty="0">
                  <a:solidFill>
                    <a:prstClr val="black">
                      <a:lumMod val="75000"/>
                      <a:lumOff val="25000"/>
                    </a:prstClr>
                  </a:solidFill>
                  <a:cs typeface="Lato Black" panose="020F0A02020204030203" pitchFamily="34" charset="0"/>
                </a:rPr>
                <a:t>CSS</a:t>
              </a:r>
              <a:endParaRPr lang="en-US" b="1" dirty="0">
                <a:solidFill>
                  <a:prstClr val="black">
                    <a:lumMod val="75000"/>
                    <a:lumOff val="25000"/>
                  </a:prstClr>
                </a:solidFill>
                <a:cs typeface="Lato Black" panose="020F0A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176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HTML vs CSS vs JS</a:t>
            </a:r>
          </a:p>
        </p:txBody>
      </p:sp>
      <p:pic>
        <p:nvPicPr>
          <p:cNvPr id="1026" name="Picture 2" descr="Web Designing Tutorials for beginners with Examples">
            <a:extLst>
              <a:ext uri="{FF2B5EF4-FFF2-40B4-BE49-F238E27FC236}">
                <a16:creationId xmlns:a16="http://schemas.microsoft.com/office/drawing/2014/main" id="{E45E01C4-D607-461E-911C-5BBA822C5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128" y="1566204"/>
            <a:ext cx="8993944" cy="449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709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5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774700" y="227451"/>
            <a:ext cx="9579122" cy="535249"/>
          </a:xfrm>
        </p:spPr>
        <p:txBody>
          <a:bodyPr/>
          <a:lstStyle/>
          <a:p>
            <a:r>
              <a:rPr lang="en-US" dirty="0"/>
              <a:t>Web Development – Client – Server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6" name="Picture 4" descr="Client–server model - Wikipedia">
            <a:extLst>
              <a:ext uri="{FF2B5EF4-FFF2-40B4-BE49-F238E27FC236}">
                <a16:creationId xmlns:a16="http://schemas.microsoft.com/office/drawing/2014/main" id="{7A7CFC3F-74FD-4FA3-AA0C-562C37F87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816" y="1156833"/>
            <a:ext cx="8462889" cy="5077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663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6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774700" y="227451"/>
            <a:ext cx="8622518" cy="535249"/>
          </a:xfrm>
        </p:spPr>
        <p:txBody>
          <a:bodyPr/>
          <a:lstStyle/>
          <a:p>
            <a:r>
              <a:rPr lang="en-US" dirty="0"/>
              <a:t>Web Development – Library vs. Framework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Libraries vs. Frameworks. In the world of programming, the… | by Bobby  Brennan | DataFire.io | Medium">
            <a:extLst>
              <a:ext uri="{FF2B5EF4-FFF2-40B4-BE49-F238E27FC236}">
                <a16:creationId xmlns:a16="http://schemas.microsoft.com/office/drawing/2014/main" id="{9FDB5A03-BB2C-401D-97BD-DE4225CBC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287" y="1325372"/>
            <a:ext cx="9899426" cy="420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6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7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Development Setup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 dirty="0"/>
              <a:t>Install Node JS and NPM – </a:t>
            </a:r>
            <a:r>
              <a:rPr lang="en-US" u="sng" dirty="0">
                <a:hlinkClick r:id="rId2"/>
              </a:rPr>
              <a:t>https://nodejs.org/en/download/</a:t>
            </a:r>
            <a:endParaRPr lang="en-US" dirty="0"/>
          </a:p>
          <a:p>
            <a:pPr lvl="0"/>
            <a:r>
              <a:rPr lang="en-US" dirty="0"/>
              <a:t>Install VS Code – </a:t>
            </a:r>
            <a:r>
              <a:rPr lang="en-US" u="sng" dirty="0">
                <a:hlinkClick r:id="rId3"/>
              </a:rPr>
              <a:t>https://code.visualstudio.com/download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72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8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What is React?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A JavaScript library for building user interfaces</a:t>
            </a:r>
          </a:p>
          <a:p>
            <a:r>
              <a:rPr lang="en-US" dirty="0"/>
              <a:t>Not a framework</a:t>
            </a:r>
          </a:p>
          <a:p>
            <a:r>
              <a:rPr lang="en-US" dirty="0"/>
              <a:t>Open-source</a:t>
            </a:r>
          </a:p>
          <a:p>
            <a:r>
              <a:rPr lang="en-US" dirty="0"/>
              <a:t>Focuses only on UI, not routing and HTTP</a:t>
            </a:r>
          </a:p>
          <a:p>
            <a:r>
              <a:rPr lang="en-US" dirty="0"/>
              <a:t>React.JS Ecosystem for routing and HTTP</a:t>
            </a:r>
          </a:p>
          <a:p>
            <a:r>
              <a:rPr lang="en-US" dirty="0"/>
              <a:t>Created and maintained by Facebook – </a:t>
            </a:r>
            <a:r>
              <a:rPr lang="en-US" dirty="0">
                <a:hlinkClick r:id="rId2"/>
              </a:rPr>
              <a:t>https://github.com/facebook/react</a:t>
            </a:r>
            <a:endParaRPr lang="en-US" dirty="0"/>
          </a:p>
          <a:p>
            <a:r>
              <a:rPr lang="en-US" dirty="0"/>
              <a:t>Latest stable release – </a:t>
            </a:r>
            <a:r>
              <a:rPr lang="en-US" b="1" dirty="0"/>
              <a:t>17.0.2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093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9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Why React?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Component-based architecture</a:t>
            </a:r>
          </a:p>
          <a:p>
            <a:r>
              <a:rPr lang="en-US" dirty="0"/>
              <a:t>Reusable code</a:t>
            </a:r>
          </a:p>
          <a:p>
            <a:r>
              <a:rPr lang="en-US" dirty="0"/>
              <a:t>React is declarative</a:t>
            </a:r>
          </a:p>
          <a:p>
            <a:r>
              <a:rPr lang="en-US" dirty="0"/>
              <a:t>Virtual DOM</a:t>
            </a:r>
          </a:p>
          <a:p>
            <a:r>
              <a:rPr lang="en-US" dirty="0"/>
              <a:t>Flexible integration with any application</a:t>
            </a:r>
          </a:p>
          <a:p>
            <a:r>
              <a:rPr lang="en-US" dirty="0"/>
              <a:t>React Native for Mobile Apps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47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10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Prerequisites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HTML, CSS and JavaScript</a:t>
            </a:r>
          </a:p>
          <a:p>
            <a:r>
              <a:rPr lang="en-US" dirty="0"/>
              <a:t>ES6 / Modern JS</a:t>
            </a:r>
          </a:p>
          <a:p>
            <a:pPr lvl="1"/>
            <a:r>
              <a:rPr lang="en-US" dirty="0"/>
              <a:t>filter, </a:t>
            </a:r>
            <a:r>
              <a:rPr lang="en-US" b="1" dirty="0"/>
              <a:t>map</a:t>
            </a:r>
            <a:r>
              <a:rPr lang="en-US" dirty="0"/>
              <a:t>, reduce</a:t>
            </a:r>
          </a:p>
          <a:p>
            <a:pPr lvl="1"/>
            <a:r>
              <a:rPr lang="en-US" dirty="0"/>
              <a:t>let &amp; const</a:t>
            </a:r>
          </a:p>
          <a:p>
            <a:pPr lvl="1"/>
            <a:r>
              <a:rPr lang="en-US" dirty="0"/>
              <a:t>template literals, arrow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764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11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Hello World Application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Create React App CLI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Folder structure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8E732-3554-4C2E-B99C-14D69A872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720508"/>
            <a:ext cx="4514725" cy="197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87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12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Components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Represent a part of UI</a:t>
            </a:r>
          </a:p>
          <a:p>
            <a:r>
              <a:rPr lang="en-US" dirty="0"/>
              <a:t>Reusable</a:t>
            </a:r>
          </a:p>
          <a:p>
            <a:r>
              <a:rPr lang="en-US" dirty="0"/>
              <a:t>Can be nested inside another component</a:t>
            </a:r>
          </a:p>
          <a:p>
            <a:r>
              <a:rPr lang="en-US" dirty="0"/>
              <a:t>Created in JS / JSX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Functional components</a:t>
            </a:r>
          </a:p>
          <a:p>
            <a:pPr lvl="1"/>
            <a:r>
              <a:rPr lang="en-US" dirty="0"/>
              <a:t>Class components</a:t>
            </a:r>
          </a:p>
        </p:txBody>
      </p:sp>
    </p:spTree>
    <p:extLst>
      <p:ext uri="{BB962C8B-B14F-4D97-AF65-F5344CB8AC3E}">
        <p14:creationId xmlns:p14="http://schemas.microsoft.com/office/powerpoint/2010/main" val="3313453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13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Components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9FB565-8C5D-44DF-B333-533824858A3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128124" y="1346200"/>
            <a:ext cx="9910352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74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14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Functional Components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Just JavaScript functions</a:t>
            </a:r>
          </a:p>
          <a:p>
            <a:r>
              <a:rPr lang="en-US" dirty="0"/>
              <a:t>Properties </a:t>
            </a:r>
            <a:r>
              <a:rPr lang="en-US" dirty="0">
                <a:sym typeface="Wingdings" panose="05000000000000000000" pitchFamily="2" charset="2"/>
              </a:rPr>
              <a:t> JS Function  HTML (JSX)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EFA80F-A606-4A84-90FB-802B02961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14" y="2384986"/>
            <a:ext cx="3676650" cy="1609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2191F4-8438-416B-983B-E892008FB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938" y="2309665"/>
            <a:ext cx="3609975" cy="1666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23D203-9354-4943-B28E-7FF5AE80C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14" y="4668788"/>
            <a:ext cx="4333875" cy="1257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DCAB7F-8669-42D9-AE87-DDB735D4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0538" y="4514434"/>
            <a:ext cx="452437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9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15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Class Components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Just ES6 Classes</a:t>
            </a:r>
          </a:p>
          <a:p>
            <a:r>
              <a:rPr lang="en-US" dirty="0"/>
              <a:t>Properties </a:t>
            </a:r>
            <a:r>
              <a:rPr lang="en-US" dirty="0">
                <a:sym typeface="Wingdings" panose="05000000000000000000" pitchFamily="2" charset="2"/>
              </a:rPr>
              <a:t> ES6 Class (State)  HTML (JSX)</a:t>
            </a:r>
          </a:p>
          <a:p>
            <a:r>
              <a:rPr lang="en-US" dirty="0">
                <a:sym typeface="Wingdings" panose="05000000000000000000" pitchFamily="2" charset="2"/>
              </a:rPr>
              <a:t>Life Cycle Methods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0602F-F0F0-4530-987E-391C4901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28" y="3014663"/>
            <a:ext cx="427672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58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16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JSX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JavaScript XML</a:t>
            </a:r>
          </a:p>
          <a:p>
            <a:r>
              <a:rPr lang="en-US" dirty="0"/>
              <a:t>Can write expression inside JSX</a:t>
            </a:r>
          </a:p>
          <a:p>
            <a:r>
              <a:rPr lang="en-US" dirty="0"/>
              <a:t>Can contain children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8F4E6-D87E-42CF-8AE2-7C7C787E6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86" y="4167773"/>
            <a:ext cx="3762375" cy="885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56D087-7DBF-4887-9B44-39B70FD8D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175" y="1346200"/>
            <a:ext cx="3667125" cy="1866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CF5957-8FAB-4514-A095-793F27886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550" y="3767895"/>
            <a:ext cx="33337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17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ReactJS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EOD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75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18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ReactJS – Recap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What is React?</a:t>
            </a:r>
          </a:p>
          <a:p>
            <a:r>
              <a:rPr lang="en-US" dirty="0">
                <a:sym typeface="Wingdings" panose="05000000000000000000" pitchFamily="2" charset="2"/>
              </a:rPr>
              <a:t>Why is React?</a:t>
            </a:r>
          </a:p>
          <a:p>
            <a:r>
              <a:rPr lang="en-US" dirty="0">
                <a:sym typeface="Wingdings" panose="05000000000000000000" pitchFamily="2" charset="2"/>
              </a:rPr>
              <a:t>Components and props</a:t>
            </a:r>
          </a:p>
          <a:p>
            <a:r>
              <a:rPr lang="en-US" dirty="0">
                <a:sym typeface="Wingdings" panose="05000000000000000000" pitchFamily="2" charset="2"/>
              </a:rPr>
              <a:t>Component Types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Functional component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Class component</a:t>
            </a:r>
          </a:p>
          <a:p>
            <a:r>
              <a:rPr lang="en-US" dirty="0">
                <a:sym typeface="Wingdings" panose="05000000000000000000" pitchFamily="2" charset="2"/>
              </a:rPr>
              <a:t>JSX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402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19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ReactJS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3344F50-5383-4696-8274-657C277FDB63}"/>
              </a:ext>
            </a:extLst>
          </p:cNvPr>
          <p:cNvSpPr/>
          <p:nvPr/>
        </p:nvSpPr>
        <p:spPr>
          <a:xfrm>
            <a:off x="618978" y="1406769"/>
            <a:ext cx="10053711" cy="444539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9D07A175-A23F-4051-8865-88D5459E3766}"/>
              </a:ext>
            </a:extLst>
          </p:cNvPr>
          <p:cNvSpPr/>
          <p:nvPr/>
        </p:nvSpPr>
        <p:spPr>
          <a:xfrm>
            <a:off x="4053644" y="1856447"/>
            <a:ext cx="2729133" cy="59084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9FFCA4CE-C66E-407D-8458-4DC2D15623B5}"/>
              </a:ext>
            </a:extLst>
          </p:cNvPr>
          <p:cNvSpPr/>
          <p:nvPr/>
        </p:nvSpPr>
        <p:spPr>
          <a:xfrm>
            <a:off x="1083212" y="2772996"/>
            <a:ext cx="9003323" cy="273880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CardList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868B82F-89EF-4192-9E5F-FFAEA681A1A1}"/>
              </a:ext>
            </a:extLst>
          </p:cNvPr>
          <p:cNvSpPr/>
          <p:nvPr/>
        </p:nvSpPr>
        <p:spPr>
          <a:xfrm>
            <a:off x="1519311" y="3629464"/>
            <a:ext cx="2321169" cy="154744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CARD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img</a:t>
            </a:r>
            <a:endParaRPr lang="en-US" dirty="0"/>
          </a:p>
          <a:p>
            <a:pPr algn="ctr"/>
            <a:r>
              <a:rPr lang="en-US" dirty="0"/>
              <a:t>Title</a:t>
            </a:r>
          </a:p>
          <a:p>
            <a:pPr algn="ctr"/>
            <a:r>
              <a:rPr lang="en-US" dirty="0"/>
              <a:t>email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C0895219-6A9A-4F24-9DAD-9C5C5E25F9EE}"/>
              </a:ext>
            </a:extLst>
          </p:cNvPr>
          <p:cNvSpPr/>
          <p:nvPr/>
        </p:nvSpPr>
        <p:spPr>
          <a:xfrm>
            <a:off x="4276579" y="3627510"/>
            <a:ext cx="2321169" cy="154744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CARD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img</a:t>
            </a:r>
            <a:endParaRPr lang="en-US" dirty="0"/>
          </a:p>
          <a:p>
            <a:pPr algn="ctr"/>
            <a:r>
              <a:rPr lang="en-US" dirty="0"/>
              <a:t>Title</a:t>
            </a:r>
          </a:p>
          <a:p>
            <a:pPr algn="ctr"/>
            <a:r>
              <a:rPr lang="en-US" dirty="0"/>
              <a:t>email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FBB590CF-9BFA-48E0-8E67-8AEC2461A69B}"/>
              </a:ext>
            </a:extLst>
          </p:cNvPr>
          <p:cNvSpPr/>
          <p:nvPr/>
        </p:nvSpPr>
        <p:spPr>
          <a:xfrm>
            <a:off x="7061982" y="3600791"/>
            <a:ext cx="2321169" cy="154744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CARD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img</a:t>
            </a:r>
            <a:endParaRPr lang="en-US" dirty="0"/>
          </a:p>
          <a:p>
            <a:pPr algn="ctr"/>
            <a:r>
              <a:rPr lang="en-US" dirty="0"/>
              <a:t>Title</a:t>
            </a:r>
          </a:p>
          <a:p>
            <a:pPr algn="ctr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931460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20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props vs state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5626100" cy="4699000"/>
          </a:xfrm>
        </p:spPr>
        <p:txBody>
          <a:bodyPr/>
          <a:lstStyle/>
          <a:p>
            <a:r>
              <a:rPr lang="en-US" dirty="0"/>
              <a:t>arguments passed into components</a:t>
            </a:r>
          </a:p>
          <a:p>
            <a:r>
              <a:rPr lang="en-US" dirty="0"/>
              <a:t>function parameters</a:t>
            </a:r>
          </a:p>
          <a:p>
            <a:r>
              <a:rPr lang="en-US" dirty="0"/>
              <a:t>props are immutable</a:t>
            </a:r>
          </a:p>
          <a:p>
            <a:r>
              <a:rPr lang="en-US" dirty="0"/>
              <a:t>accessing via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props – functional component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this.props</a:t>
            </a:r>
            <a:r>
              <a:rPr lang="en-US" dirty="0">
                <a:sym typeface="Wingdings" panose="05000000000000000000" pitchFamily="2" charset="2"/>
              </a:rPr>
              <a:t> – class component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B5CDAD2-941E-4BA8-AA41-08626205F090}"/>
              </a:ext>
            </a:extLst>
          </p:cNvPr>
          <p:cNvSpPr txBox="1">
            <a:spLocks/>
          </p:cNvSpPr>
          <p:nvPr/>
        </p:nvSpPr>
        <p:spPr>
          <a:xfrm>
            <a:off x="6096000" y="1346200"/>
            <a:ext cx="5626100" cy="4699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D407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D407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D407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407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407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managed within the components</a:t>
            </a:r>
          </a:p>
          <a:p>
            <a:r>
              <a:rPr lang="en-US" dirty="0"/>
              <a:t>variables declared in function body</a:t>
            </a:r>
          </a:p>
          <a:p>
            <a:r>
              <a:rPr lang="en-US" dirty="0"/>
              <a:t>state can be changed</a:t>
            </a:r>
          </a:p>
          <a:p>
            <a:r>
              <a:rPr lang="en-US" dirty="0"/>
              <a:t>accessed via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useState</a:t>
            </a:r>
            <a:r>
              <a:rPr lang="en-US" dirty="0">
                <a:solidFill>
                  <a:srgbClr val="FF0000"/>
                </a:solidFill>
              </a:rPr>
              <a:t> hook </a:t>
            </a:r>
            <a:r>
              <a:rPr lang="en-US" dirty="0"/>
              <a:t>– </a:t>
            </a:r>
            <a:r>
              <a:rPr lang="en-US" dirty="0" err="1"/>
              <a:t>func</a:t>
            </a:r>
            <a:r>
              <a:rPr lang="en-US" dirty="0"/>
              <a:t>. component</a:t>
            </a:r>
          </a:p>
          <a:p>
            <a:pPr lvl="1"/>
            <a:r>
              <a:rPr lang="en-US" dirty="0" err="1"/>
              <a:t>this.state</a:t>
            </a:r>
            <a:r>
              <a:rPr lang="en-US" dirty="0"/>
              <a:t> – class component</a:t>
            </a:r>
          </a:p>
        </p:txBody>
      </p:sp>
    </p:spTree>
    <p:extLst>
      <p:ext uri="{BB962C8B-B14F-4D97-AF65-F5344CB8AC3E}">
        <p14:creationId xmlns:p14="http://schemas.microsoft.com/office/powerpoint/2010/main" val="1336833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21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What do we learn?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175578-BC6E-4782-8E8D-B5080D427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4" y="1281892"/>
            <a:ext cx="10690851" cy="493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66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22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What did we learn?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Class components</a:t>
            </a:r>
          </a:p>
          <a:p>
            <a:r>
              <a:rPr lang="en-US" dirty="0"/>
              <a:t>List Rendering</a:t>
            </a:r>
          </a:p>
          <a:p>
            <a:r>
              <a:rPr lang="en-US" dirty="0"/>
              <a:t>Event Handling</a:t>
            </a:r>
          </a:p>
          <a:p>
            <a:r>
              <a:rPr lang="en-US" dirty="0"/>
              <a:t>Styling components</a:t>
            </a:r>
          </a:p>
          <a:p>
            <a:r>
              <a:rPr lang="en-US" dirty="0">
                <a:sym typeface="Wingdings" panose="05000000000000000000" pitchFamily="2" charset="2"/>
              </a:rPr>
              <a:t>Fetching API</a:t>
            </a:r>
          </a:p>
          <a:p>
            <a:r>
              <a:rPr lang="en-US" dirty="0">
                <a:sym typeface="Wingdings" panose="05000000000000000000" pitchFamily="2" charset="2"/>
              </a:rPr>
              <a:t>Array methods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map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filter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852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Class components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EOD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0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24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Hooks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Hooks are new feature introduced in React v16.8 (</a:t>
            </a:r>
            <a:r>
              <a:rPr lang="en-US" dirty="0"/>
              <a:t>2018)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Hooks allow us to use React features without having to write a Class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ex: State of a component</a:t>
            </a:r>
          </a:p>
          <a:p>
            <a:r>
              <a:rPr lang="en-US" dirty="0">
                <a:sym typeface="Wingdings" panose="05000000000000000000" pitchFamily="2" charset="2"/>
              </a:rPr>
              <a:t>Hooks don’t work in Classes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228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25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Why Hooks?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Difficulty in working with</a:t>
            </a:r>
            <a:r>
              <a:rPr lang="en-US" b="1" i="1" dirty="0">
                <a:sym typeface="Wingdings" panose="05000000000000000000" pitchFamily="2" charset="2"/>
              </a:rPr>
              <a:t> this</a:t>
            </a:r>
            <a:r>
              <a:rPr lang="en-US" dirty="0">
                <a:sym typeface="Wingdings" panose="05000000000000000000" pitchFamily="2" charset="2"/>
              </a:rPr>
              <a:t> keyword</a:t>
            </a:r>
          </a:p>
          <a:p>
            <a:r>
              <a:rPr lang="en-US" dirty="0">
                <a:sym typeface="Wingdings" panose="05000000000000000000" pitchFamily="2" charset="2"/>
              </a:rPr>
              <a:t>Event handlers need to bound in Class components</a:t>
            </a:r>
          </a:p>
          <a:p>
            <a:r>
              <a:rPr lang="en-US" dirty="0">
                <a:sym typeface="Wingdings" panose="05000000000000000000" pitchFamily="2" charset="2"/>
              </a:rPr>
              <a:t>Classes don’t minify well</a:t>
            </a:r>
          </a:p>
          <a:p>
            <a:r>
              <a:rPr lang="en-US" dirty="0">
                <a:sym typeface="Wingdings" panose="05000000000000000000" pitchFamily="2" charset="2"/>
              </a:rPr>
              <a:t>Classes make the codebase huge – unreadable</a:t>
            </a:r>
          </a:p>
          <a:p>
            <a:r>
              <a:rPr lang="en-US" dirty="0">
                <a:sym typeface="Wingdings" panose="05000000000000000000" pitchFamily="2" charset="2"/>
              </a:rPr>
              <a:t>Better way to handle stateful logic</a:t>
            </a:r>
          </a:p>
          <a:p>
            <a:r>
              <a:rPr lang="en-US" dirty="0"/>
              <a:t>Alternative approach to state management and lifecycle methods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158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26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Hooks?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React v16.8 or higher</a:t>
            </a:r>
          </a:p>
          <a:p>
            <a:r>
              <a:rPr lang="en-US" dirty="0">
                <a:sym typeface="Wingdings" panose="05000000000000000000" pitchFamily="2" charset="2"/>
              </a:rPr>
              <a:t>Completely opt-in</a:t>
            </a:r>
          </a:p>
          <a:p>
            <a:r>
              <a:rPr lang="en-US" dirty="0">
                <a:sym typeface="Wingdings" panose="05000000000000000000" pitchFamily="2" charset="2"/>
              </a:rPr>
              <a:t>No breaking changes</a:t>
            </a:r>
          </a:p>
          <a:p>
            <a:r>
              <a:rPr lang="en-US" dirty="0">
                <a:sym typeface="Wingdings" panose="05000000000000000000" pitchFamily="2" charset="2"/>
              </a:rPr>
              <a:t>100% backwards-compatible</a:t>
            </a:r>
          </a:p>
          <a:p>
            <a:r>
              <a:rPr lang="en-US" dirty="0">
                <a:sym typeface="Wingdings" panose="05000000000000000000" pitchFamily="2" charset="2"/>
              </a:rPr>
              <a:t>Classes won’t be removed from React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35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27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/>
              <a:t>Why Hooks?</a:t>
            </a:r>
            <a:endParaRPr lang="en-US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125F83-A8D6-4DE8-8A0A-8B1DE9276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20" y="1218028"/>
            <a:ext cx="9662160" cy="483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600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28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 err="1"/>
              <a:t>useState</a:t>
            </a:r>
            <a:r>
              <a:rPr lang="en-US" b="1" dirty="0"/>
              <a:t> </a:t>
            </a:r>
            <a:r>
              <a:rPr lang="en-US" dirty="0"/>
              <a:t>Hook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Adds STATE to functional components</a:t>
            </a:r>
          </a:p>
          <a:p>
            <a:r>
              <a:rPr lang="en-US" dirty="0">
                <a:sym typeface="Wingdings" panose="05000000000000000000" pitchFamily="2" charset="2"/>
              </a:rPr>
              <a:t>In classes, the state (</a:t>
            </a:r>
            <a:r>
              <a:rPr lang="en-US" dirty="0" err="1">
                <a:sym typeface="Wingdings" panose="05000000000000000000" pitchFamily="2" charset="2"/>
              </a:rPr>
              <a:t>this.state</a:t>
            </a:r>
            <a:r>
              <a:rPr lang="en-US" dirty="0">
                <a:sym typeface="Wingdings" panose="05000000000000000000" pitchFamily="2" charset="2"/>
              </a:rPr>
              <a:t>) is always on object</a:t>
            </a:r>
          </a:p>
          <a:p>
            <a:r>
              <a:rPr lang="en-US" dirty="0">
                <a:sym typeface="Wingdings" panose="05000000000000000000" pitchFamily="2" charset="2"/>
              </a:rPr>
              <a:t>With </a:t>
            </a:r>
            <a:r>
              <a:rPr lang="en-US" dirty="0" err="1">
                <a:sym typeface="Wingdings" panose="05000000000000000000" pitchFamily="2" charset="2"/>
              </a:rPr>
              <a:t>useState</a:t>
            </a:r>
            <a:r>
              <a:rPr lang="en-US" dirty="0">
                <a:sym typeface="Wingdings" panose="05000000000000000000" pitchFamily="2" charset="2"/>
              </a:rPr>
              <a:t>, the state can be array, object, </a:t>
            </a:r>
            <a:r>
              <a:rPr lang="en-US" dirty="0" err="1">
                <a:sym typeface="Wingdings" panose="05000000000000000000" pitchFamily="2" charset="2"/>
              </a:rPr>
              <a:t>boolean</a:t>
            </a:r>
            <a:r>
              <a:rPr lang="en-US" dirty="0">
                <a:sym typeface="Wingdings" panose="05000000000000000000" pitchFamily="2" charset="2"/>
              </a:rPr>
              <a:t>, number, string etc.</a:t>
            </a:r>
          </a:p>
          <a:p>
            <a:r>
              <a:rPr lang="en-US" dirty="0">
                <a:sym typeface="Wingdings" panose="05000000000000000000" pitchFamily="2" charset="2"/>
              </a:rPr>
              <a:t>Returns an array with 2 elements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Current value of the state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State setter function</a:t>
            </a:r>
          </a:p>
          <a:p>
            <a:r>
              <a:rPr lang="en-US" dirty="0">
                <a:sym typeface="Wingdings" panose="05000000000000000000" pitchFamily="2" charset="2"/>
              </a:rPr>
              <a:t>Use spread operator while dealing with objects and arrays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4407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29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dirty="0" err="1"/>
              <a:t>useState</a:t>
            </a:r>
            <a:r>
              <a:rPr lang="en-US" dirty="0"/>
              <a:t> Hooks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EOD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229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30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 err="1"/>
              <a:t>useEffect</a:t>
            </a:r>
            <a:r>
              <a:rPr lang="en-US" b="1" dirty="0"/>
              <a:t> </a:t>
            </a:r>
            <a:r>
              <a:rPr lang="en-US" dirty="0"/>
              <a:t>Hook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i="1" dirty="0"/>
              <a:t>Effect Hook</a:t>
            </a:r>
            <a:r>
              <a:rPr lang="en-US" dirty="0"/>
              <a:t> lets you perform side effects in function components.</a:t>
            </a:r>
          </a:p>
          <a:p>
            <a:r>
              <a:rPr lang="en-US" dirty="0"/>
              <a:t>A "side effect" is anything that affects something outside the scope of the function being executed.</a:t>
            </a:r>
          </a:p>
          <a:p>
            <a:pPr lvl="1"/>
            <a:r>
              <a:rPr lang="en-US" dirty="0"/>
              <a:t>Ex: modifying a global variable in a local function</a:t>
            </a:r>
          </a:p>
          <a:p>
            <a:pPr lvl="1"/>
            <a:r>
              <a:rPr lang="en-US" dirty="0"/>
              <a:t>Data fetching</a:t>
            </a:r>
          </a:p>
          <a:p>
            <a:pPr lvl="1"/>
            <a:r>
              <a:rPr lang="en-US" dirty="0"/>
              <a:t>manually changing the DOM in React components.</a:t>
            </a:r>
          </a:p>
          <a:p>
            <a:r>
              <a:rPr lang="en-US" dirty="0"/>
              <a:t>Equals to </a:t>
            </a:r>
            <a:r>
              <a:rPr lang="en-US" dirty="0" err="1"/>
              <a:t>componentDidMount</a:t>
            </a:r>
            <a:r>
              <a:rPr lang="en-US" dirty="0"/>
              <a:t>(), </a:t>
            </a:r>
            <a:r>
              <a:rPr lang="en-US" dirty="0" err="1"/>
              <a:t>componentDidUpdate</a:t>
            </a:r>
            <a:r>
              <a:rPr lang="en-US" dirty="0"/>
              <a:t>(), </a:t>
            </a:r>
            <a:r>
              <a:rPr lang="en-US" dirty="0" err="1"/>
              <a:t>componentWillUnmount</a:t>
            </a:r>
            <a:r>
              <a:rPr lang="en-US" dirty="0"/>
              <a:t>() in Class component’s life cycle methods.</a:t>
            </a:r>
          </a:p>
          <a:p>
            <a:pPr lvl="1"/>
            <a:endParaRPr lang="en-US" dirty="0"/>
          </a:p>
          <a:p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24112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31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Effects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3E455-CBF5-4404-9098-E1EE88AA4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77" y="1123948"/>
            <a:ext cx="6362700" cy="5362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F84039-D3D6-420E-9AE2-D77D34A6C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623" y="1857374"/>
            <a:ext cx="46863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1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32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Effects Hook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63B87BC-8D6E-44CF-8D8E-0E174C319C4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Conditionally run Effects</a:t>
            </a:r>
          </a:p>
          <a:p>
            <a:r>
              <a:rPr lang="en-US" dirty="0">
                <a:sym typeface="Wingdings" panose="05000000000000000000" pitchFamily="2" charset="2"/>
              </a:rPr>
              <a:t>Run Effects only once</a:t>
            </a:r>
          </a:p>
          <a:p>
            <a:r>
              <a:rPr lang="en-US" dirty="0">
                <a:sym typeface="Wingdings" panose="05000000000000000000" pitchFamily="2" charset="2"/>
              </a:rPr>
              <a:t>Effects with Cleanup</a:t>
            </a:r>
          </a:p>
          <a:p>
            <a:r>
              <a:rPr lang="en-US" dirty="0">
                <a:sym typeface="Wingdings" panose="05000000000000000000" pitchFamily="2" charset="2"/>
              </a:rPr>
              <a:t>Fetch data using Effects</a:t>
            </a:r>
          </a:p>
          <a:p>
            <a:r>
              <a:rPr lang="en-US" dirty="0"/>
              <a:t>React performs the cleanup when the component unmounts.</a:t>
            </a:r>
          </a:p>
        </p:txBody>
      </p:sp>
    </p:spTree>
    <p:extLst>
      <p:ext uri="{BB962C8B-B14F-4D97-AF65-F5344CB8AC3E}">
        <p14:creationId xmlns:p14="http://schemas.microsoft.com/office/powerpoint/2010/main" val="1687627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ReactJS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 err="1">
                <a:sym typeface="Wingdings" panose="05000000000000000000" pitchFamily="2" charset="2"/>
              </a:rPr>
              <a:t>EoD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262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34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Context Hook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AE1F5-3A11-4C85-A66C-3B54FF2AE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32" y="1419225"/>
            <a:ext cx="891540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35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Context Hook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Context provides a way to pass data through the component tree without having to pass props down manually at every level. </a:t>
            </a:r>
          </a:p>
          <a:p>
            <a:r>
              <a:rPr lang="en-US" dirty="0" err="1"/>
              <a:t>useContext</a:t>
            </a:r>
            <a:r>
              <a:rPr lang="en-US" dirty="0"/>
              <a:t> hook accepts a context object and returns the current context value for that context. </a:t>
            </a:r>
          </a:p>
          <a:p>
            <a:r>
              <a:rPr lang="en-US" dirty="0"/>
              <a:t>context object = (the value returned from </a:t>
            </a:r>
            <a:r>
              <a:rPr lang="en-US" dirty="0" err="1"/>
              <a:t>React.createContext</a:t>
            </a:r>
            <a:r>
              <a:rPr lang="en-US" dirty="0"/>
              <a:t>)</a:t>
            </a:r>
          </a:p>
          <a:p>
            <a:r>
              <a:rPr lang="en-US" dirty="0"/>
              <a:t>Steps</a:t>
            </a:r>
          </a:p>
          <a:p>
            <a:pPr lvl="1"/>
            <a:r>
              <a:rPr lang="en-US" dirty="0"/>
              <a:t>Create a context</a:t>
            </a:r>
          </a:p>
          <a:p>
            <a:pPr lvl="1"/>
            <a:r>
              <a:rPr lang="en-US" dirty="0"/>
              <a:t>Provide context a value</a:t>
            </a:r>
          </a:p>
          <a:p>
            <a:pPr lvl="1"/>
            <a:r>
              <a:rPr lang="en-US" dirty="0"/>
              <a:t>Consume context value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243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36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 err="1"/>
              <a:t>useCallback</a:t>
            </a:r>
            <a:r>
              <a:rPr lang="en-US" b="1" dirty="0"/>
              <a:t> Hook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In computing, </a:t>
            </a:r>
            <a:r>
              <a:rPr lang="en-US" dirty="0" err="1"/>
              <a:t>memoization</a:t>
            </a:r>
            <a:r>
              <a:rPr lang="en-US" dirty="0"/>
              <a:t> is an optimization technique used primarily to speed up computer programs </a:t>
            </a:r>
            <a:r>
              <a:rPr lang="en-US" u="sng" dirty="0"/>
              <a:t>by storing the results of expensive function </a:t>
            </a:r>
            <a:r>
              <a:rPr lang="en-US" dirty="0"/>
              <a:t>calls and </a:t>
            </a:r>
            <a:r>
              <a:rPr lang="en-US" u="sng" dirty="0"/>
              <a:t>returning the cached result when the same inputs occur again.</a:t>
            </a:r>
          </a:p>
          <a:p>
            <a:r>
              <a:rPr lang="en-US" dirty="0" err="1"/>
              <a:t>useCallback</a:t>
            </a:r>
            <a:r>
              <a:rPr lang="en-US" dirty="0"/>
              <a:t> focuses on a different thing: it fixes performance issues.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42894-3E27-4923-ABE6-BCA08CFFE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41" y="3134992"/>
            <a:ext cx="4486570" cy="291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71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37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ReactJS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 err="1">
                <a:sym typeface="Wingdings" panose="05000000000000000000" pitchFamily="2" charset="2"/>
              </a:rPr>
              <a:t>EoD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8026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38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HTTP Status Codes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https://developer.mozilla.org/en-US/docs/Web/HTTP/Status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16B468-AE79-43C1-B56F-903A6486A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1826065"/>
            <a:ext cx="5867400" cy="407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C98BAF7-3176-4FB1-916F-AE958B294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569" y="2789235"/>
            <a:ext cx="7029451" cy="288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67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39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 err="1"/>
              <a:t>axios</a:t>
            </a:r>
            <a:endParaRPr lang="en-US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/>
              <a:t>Promise based HTTP client for the browser and node.js</a:t>
            </a:r>
          </a:p>
          <a:p>
            <a:r>
              <a:rPr lang="en-US" dirty="0">
                <a:hlinkClick r:id="rId2"/>
              </a:rPr>
              <a:t>https://www.npmjs.com/package/axios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7260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40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 err="1"/>
              <a:t>axios</a:t>
            </a:r>
            <a:r>
              <a:rPr lang="en-US" b="1" dirty="0"/>
              <a:t> vs fetch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b="1" dirty="0"/>
              <a:t>Automatic JSON data transformation</a:t>
            </a:r>
          </a:p>
          <a:p>
            <a:r>
              <a:rPr lang="en-US" b="1" dirty="0"/>
              <a:t>Response timeout</a:t>
            </a:r>
          </a:p>
          <a:p>
            <a:r>
              <a:rPr lang="en-US" b="1" dirty="0"/>
              <a:t>Backward compatibility</a:t>
            </a:r>
          </a:p>
          <a:p>
            <a:r>
              <a:rPr lang="en-US" b="1" dirty="0"/>
              <a:t>HTTP interceptors</a:t>
            </a:r>
          </a:p>
          <a:p>
            <a:r>
              <a:rPr lang="en-US" b="1" dirty="0"/>
              <a:t>Simultaneous requests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70569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41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 err="1"/>
              <a:t>axios</a:t>
            </a:r>
            <a:r>
              <a:rPr lang="en-US" b="1" dirty="0"/>
              <a:t> vs fetch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b="1" dirty="0"/>
              <a:t>Automatic JSON data transformation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7C9CD3-B3F1-4892-8276-F315CB2BD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09" y="1704975"/>
            <a:ext cx="51435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163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42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 err="1"/>
              <a:t>axios</a:t>
            </a:r>
            <a:r>
              <a:rPr lang="en-US" b="1" dirty="0"/>
              <a:t> vs fetch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b="1" dirty="0"/>
              <a:t>Response timeout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03229E-CD6F-46F7-ACD1-218DE9EEF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281970"/>
            <a:ext cx="4752975" cy="3419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D6184E-0752-416C-98E7-FF3C0B51C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018" y="1457325"/>
            <a:ext cx="56007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7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 err="1"/>
              <a:t>axios</a:t>
            </a:r>
            <a:r>
              <a:rPr lang="en-US" b="1" dirty="0"/>
              <a:t> vs fetch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b="1" dirty="0"/>
              <a:t>Simultaneous requests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384AC-1ECD-4B55-A28C-05C7C433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25" y="2419350"/>
            <a:ext cx="7105650" cy="2981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BD4E3F-62B1-477D-BFF8-4C39E1F74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0" y="1860965"/>
            <a:ext cx="70866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2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44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 err="1"/>
              <a:t>axios</a:t>
            </a:r>
            <a:r>
              <a:rPr lang="en-US" b="1" dirty="0"/>
              <a:t> vs fetch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b="1" dirty="0"/>
              <a:t>HTTP interceptors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34DB1-6E71-442D-98BB-1BBED570D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" y="2097771"/>
            <a:ext cx="5067300" cy="3590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8141E0-2E79-42B7-83DC-961DFEE40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2021571"/>
            <a:ext cx="52768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6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45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ReactJS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 err="1">
                <a:sym typeface="Wingdings" panose="05000000000000000000" pitchFamily="2" charset="2"/>
              </a:rPr>
              <a:t>EoD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910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46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React Router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Routing with </a:t>
            </a:r>
            <a:r>
              <a:rPr lang="en-US" b="1" i="1" dirty="0" err="1">
                <a:sym typeface="Wingdings" panose="05000000000000000000" pitchFamily="2" charset="2"/>
              </a:rPr>
              <a:t>href</a:t>
            </a:r>
            <a:endParaRPr lang="en-US" b="1" i="1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Routing with </a:t>
            </a:r>
            <a:r>
              <a:rPr lang="en-US" b="1" i="1" dirty="0">
                <a:sym typeface="Wingdings" panose="05000000000000000000" pitchFamily="2" charset="2"/>
              </a:rPr>
              <a:t>react-router-</a:t>
            </a:r>
            <a:r>
              <a:rPr lang="en-US" b="1" i="1" dirty="0" err="1">
                <a:sym typeface="Wingdings" panose="05000000000000000000" pitchFamily="2" charset="2"/>
              </a:rPr>
              <a:t>dom</a:t>
            </a:r>
            <a:r>
              <a:rPr lang="en-US" dirty="0">
                <a:sym typeface="Wingdings" panose="05000000000000000000" pitchFamily="2" charset="2"/>
              </a:rPr>
              <a:t> library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Creating Routes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BrowserRouter</a:t>
            </a:r>
            <a:r>
              <a:rPr lang="en-US" dirty="0">
                <a:sym typeface="Wingdings" panose="05000000000000000000" pitchFamily="2" charset="2"/>
              </a:rPr>
              <a:t>, Switch, Route, Link components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Accessing URL parameters – </a:t>
            </a:r>
            <a:r>
              <a:rPr lang="en-US" dirty="0" err="1">
                <a:sym typeface="Wingdings" panose="05000000000000000000" pitchFamily="2" charset="2"/>
              </a:rPr>
              <a:t>useParams</a:t>
            </a:r>
            <a:r>
              <a:rPr lang="en-US" dirty="0">
                <a:sym typeface="Wingdings" panose="05000000000000000000" pitchFamily="2" charset="2"/>
              </a:rPr>
              <a:t>(), </a:t>
            </a:r>
            <a:r>
              <a:rPr lang="en-US" dirty="0" err="1">
                <a:sym typeface="Wingdings" panose="05000000000000000000" pitchFamily="2" charset="2"/>
              </a:rPr>
              <a:t>useLocation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Protected Routes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Nested Routing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3531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47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React Router Hooks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 err="1">
                <a:sym typeface="Wingdings" panose="05000000000000000000" pitchFamily="2" charset="2"/>
              </a:rPr>
              <a:t>useLocation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returns the </a:t>
            </a:r>
            <a:r>
              <a:rPr lang="en-US" b="1" i="1" dirty="0">
                <a:sym typeface="Wingdings" panose="05000000000000000000" pitchFamily="2" charset="2"/>
              </a:rPr>
              <a:t>location</a:t>
            </a:r>
            <a:r>
              <a:rPr lang="en-US" dirty="0">
                <a:sym typeface="Wingdings" panose="05000000000000000000" pitchFamily="2" charset="2"/>
              </a:rPr>
              <a:t> object that represents the current URL.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You can think about it like a </a:t>
            </a:r>
            <a:r>
              <a:rPr lang="en-US" dirty="0" err="1">
                <a:sym typeface="Wingdings" panose="05000000000000000000" pitchFamily="2" charset="2"/>
              </a:rPr>
              <a:t>useState</a:t>
            </a:r>
            <a:r>
              <a:rPr lang="en-US" dirty="0">
                <a:sym typeface="Wingdings" panose="05000000000000000000" pitchFamily="2" charset="2"/>
              </a:rPr>
              <a:t> that returns a new location whenever the URL changes.</a:t>
            </a:r>
          </a:p>
          <a:p>
            <a:r>
              <a:rPr lang="en-US" dirty="0" err="1">
                <a:sym typeface="Wingdings" panose="05000000000000000000" pitchFamily="2" charset="2"/>
              </a:rPr>
              <a:t>useParams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returns an </a:t>
            </a:r>
            <a:r>
              <a:rPr lang="en-US" b="1" i="1" dirty="0">
                <a:sym typeface="Wingdings" panose="05000000000000000000" pitchFamily="2" charset="2"/>
              </a:rPr>
              <a:t>object</a:t>
            </a:r>
            <a:r>
              <a:rPr lang="en-US" dirty="0">
                <a:sym typeface="Wingdings" panose="05000000000000000000" pitchFamily="2" charset="2"/>
              </a:rPr>
              <a:t> of key/value pairs of URL parameters.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Use it to access </a:t>
            </a:r>
            <a:r>
              <a:rPr lang="en-US" dirty="0" err="1">
                <a:sym typeface="Wingdings" panose="05000000000000000000" pitchFamily="2" charset="2"/>
              </a:rPr>
              <a:t>match.params</a:t>
            </a:r>
            <a:r>
              <a:rPr lang="en-US" dirty="0">
                <a:sym typeface="Wingdings" panose="05000000000000000000" pitchFamily="2" charset="2"/>
              </a:rPr>
              <a:t> of the current &lt;Route&gt;.</a:t>
            </a:r>
          </a:p>
          <a:p>
            <a:r>
              <a:rPr lang="en-US" dirty="0" err="1">
                <a:sym typeface="Wingdings" panose="05000000000000000000" pitchFamily="2" charset="2"/>
              </a:rPr>
              <a:t>useRouteMatch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attempts to match the current URL in the same way that a &lt;Route&gt; would. </a:t>
            </a:r>
          </a:p>
          <a:p>
            <a:r>
              <a:rPr lang="en-US" dirty="0" err="1">
                <a:sym typeface="Wingdings" panose="05000000000000000000" pitchFamily="2" charset="2"/>
              </a:rPr>
              <a:t>useHistory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gives you access to the </a:t>
            </a:r>
            <a:r>
              <a:rPr lang="en-US" b="1" i="1" dirty="0">
                <a:sym typeface="Wingdings" panose="05000000000000000000" pitchFamily="2" charset="2"/>
              </a:rPr>
              <a:t>history</a:t>
            </a:r>
            <a:r>
              <a:rPr lang="en-US" dirty="0">
                <a:sym typeface="Wingdings" panose="05000000000000000000" pitchFamily="2" charset="2"/>
              </a:rPr>
              <a:t> instance that you may use to navigate.</a:t>
            </a:r>
          </a:p>
        </p:txBody>
      </p:sp>
    </p:spTree>
    <p:extLst>
      <p:ext uri="{BB962C8B-B14F-4D97-AF65-F5344CB8AC3E}">
        <p14:creationId xmlns:p14="http://schemas.microsoft.com/office/powerpoint/2010/main" val="3925865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48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React Routing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 err="1">
                <a:sym typeface="Wingdings" panose="05000000000000000000" pitchFamily="2" charset="2"/>
              </a:rPr>
              <a:t>EoD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3571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49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React Blog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5F6469-89F0-4CD5-BDFA-809283C5E89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043363" y="1346200"/>
            <a:ext cx="10079873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046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confidential. Not to be distributed or reproduced without permission from Utegration.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0465-FD76-4447-92AB-0D1488BF88EB}" type="slidenum">
              <a:rPr lang="en-US" smtClean="0"/>
              <a:t>50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5377" y="277551"/>
            <a:ext cx="5867400" cy="535249"/>
          </a:xfrm>
        </p:spPr>
        <p:txBody>
          <a:bodyPr/>
          <a:lstStyle/>
          <a:p>
            <a:r>
              <a:rPr lang="en-US" b="1" dirty="0"/>
              <a:t>React Blog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36A453C-ADE6-419C-8475-507FC9BCBB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1346200"/>
            <a:ext cx="11226800" cy="4699000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Demo – </a:t>
            </a:r>
            <a:r>
              <a:rPr lang="en-US" dirty="0">
                <a:sym typeface="Wingdings" panose="05000000000000000000" pitchFamily="2" charset="2"/>
                <a:hlinkClick r:id="rId2"/>
              </a:rPr>
              <a:t>https://manja1227.github.io/react-blog/#/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EoD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17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Utegration.potx  -  Read-Only" id="{34586ABB-8A27-47C5-8F3B-E7BD895B6C8A}" vid="{3678D3A8-8D13-464E-A178-2FBBAA302D6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Utegration.potx  -  Read-Only" id="{34586ABB-8A27-47C5-8F3B-E7BD895B6C8A}" vid="{C7AA6967-B0E3-40BE-8B9F-244A472F9B3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Utegration</Template>
  <TotalTime>27476</TotalTime>
  <Words>1774</Words>
  <Application>Microsoft Office PowerPoint</Application>
  <PresentationFormat>Widescreen</PresentationFormat>
  <Paragraphs>370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Office Theme</vt:lpstr>
      <vt:lpstr>Custom Design</vt:lpstr>
      <vt:lpstr>ReactJS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Here</dc:title>
  <dc:creator>Manjunatha K</dc:creator>
  <cp:lastModifiedBy>Manjunatha K</cp:lastModifiedBy>
  <cp:revision>192</cp:revision>
  <dcterms:created xsi:type="dcterms:W3CDTF">2020-09-14T04:38:04Z</dcterms:created>
  <dcterms:modified xsi:type="dcterms:W3CDTF">2021-07-08T08:15:21Z</dcterms:modified>
</cp:coreProperties>
</file>